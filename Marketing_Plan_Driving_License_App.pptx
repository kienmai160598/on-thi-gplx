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Budget</c:v>
                </c:pt>
              </c:strCache>
            </c:strRef>
          </c:tx>
          <c:spPr>
            <a:solidFill>
              <a:schemeClr val="accent1"/>
            </a:solidFill>
            <a:ln w="9525" cap="flat">
              <a:solidFill>
                <a:srgbClr val="F9F9F9"/>
              </a:solidFill>
              <a:prstDash val="solid"/>
              <a:round/>
            </a:ln>
            <a:effectLst/>
          </c:spPr>
          <c:dPt>
            <c:idx val="0"/>
            <c:bubble3D val="0"/>
            <c:spPr>
              <a:solidFill>
                <a:srgbClr val="1B4965"/>
              </a:solidFill>
              <a:effectLst/>
            </c:spPr>
          </c:dPt>
          <c:dPt>
            <c:idx val="1"/>
            <c:bubble3D val="0"/>
            <c:spPr>
              <a:solidFill>
                <a:srgbClr val="62B6CB"/>
              </a:solidFill>
              <a:effectLst/>
            </c:spPr>
          </c:dPt>
          <c:dPt>
            <c:idx val="2"/>
            <c:bubble3D val="0"/>
            <c:spPr>
              <a:solidFill>
                <a:srgbClr val="F4A261"/>
              </a:solidFill>
              <a:effectLst/>
            </c:spPr>
          </c:dPt>
          <c:dPt>
            <c:idx val="3"/>
            <c:bubble3D val="0"/>
            <c:spPr>
              <a:solidFill>
                <a:srgbClr val="BEE9E8"/>
              </a:solidFill>
              <a:effectLst/>
            </c:spPr>
          </c:dPt>
          <c:dLbls>
            <c:dLbl>
              <c:idx val="0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1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2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dLbl>
              <c:idx val="3"/>
              <c:numFmt formatCode="0%" sourceLinked="0"/>
              <c:spPr/>
              <c:txPr>
                <a:bodyPr/>
                <a:lstStyle/>
                <a:p>
                  <a:pPr>
                    <a:defRPr sz="1200" b="0" i="0" u="none" strike="noStrike">
                      <a:solidFill>
                        <a:srgbClr val="1A1A2E"/>
                      </a:solidFill>
                      <a:latin typeface="Arial"/>
                    </a:defRPr>
                  </a:pPr>
                </a:p>
              </c:txPr>
              <c:showLegendKey val="0"/>
              <c:showVal val="0"/>
              <c:showCatName val="0"/>
              <c:showSerName val="0"/>
              <c:showPercent val="1"/>
              <c:showBubbleSize val="0"/>
            </c:dLbl>
            <c:numFmt formatCode="0%" sourceLinked="0"/>
            <c:txPr>
              <a:bodyPr/>
              <a:lstStyle/>
              <a:p>
                <a:pPr>
                  <a:defRPr sz="1800" b="0" i="0" u="none" strike="noStrik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0"/>
            <c:showCatName val="1"/>
            <c:showSerName val="0"/>
            <c:showPercent val="1"/>
            <c:showBubbleSize val="0"/>
            <c:showLeaderLines val="0"/>
          </c:dLbls>
          <c:cat>
            <c:strRef>
              <c:f>Sheet1!$A$2:$A$5</c:f>
              <c:strCache>
                <c:ptCount val="4"/>
                <c:pt idx="0">
                  <c:v>Paid Ads</c:v>
                </c:pt>
                <c:pt idx="1">
                  <c:v>Content Tools</c:v>
                </c:pt>
                <c:pt idx="2">
                  <c:v>ASO Tools</c:v>
                </c:pt>
                <c:pt idx="3">
                  <c:v>Reserve</c:v>
                </c:pt>
              </c:strCache>
            </c:strRef>
          </c:cat>
          <c:val>
            <c:numRef>
              <c:f>Sheet1!$B$2:$B$5</c:f>
              <c:numCache>
                <c:ptCount val="4"/>
                <c:pt idx="0">
                  <c:v>50</c:v>
                </c:pt>
                <c:pt idx="1">
                  <c:v>20</c:v>
                </c:pt>
                <c:pt idx="2">
                  <c:v>15</c:v>
                </c:pt>
                <c:pt idx="3">
                  <c:v>15</c:v>
                </c:pt>
              </c:numCache>
            </c:numRef>
          </c:val>
        </c:ser>
        <c:firstSliceAng val="0"/>
        <c:holeSize val="50"/>
      </c:doughnutChart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0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image" Target="../media/image-9-7.png"/><Relationship Id="rId8" Type="http://schemas.openxmlformats.org/officeDocument/2006/relationships/image" Target="../media/image-9-8.png"/><Relationship Id="rId9" Type="http://schemas.openxmlformats.org/officeDocument/2006/relationships/slideLayout" Target="../slideLayouts/slideLayout1.xml"/><Relationship Id="rId1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image" Target="../media/image-12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600000">
            <a:off x="5943600" y="-457200"/>
            <a:ext cx="4114800" cy="6057900"/>
          </a:xfrm>
          <a:prstGeom prst="rect">
            <a:avLst/>
          </a:prstGeom>
          <a:solidFill>
            <a:srgbClr val="1B4965">
              <a:alpha val="60000"/>
            </a:srgbClr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32320" y="914400"/>
            <a:ext cx="640080" cy="64008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955280" y="1828800"/>
            <a:ext cx="548640" cy="548640"/>
          </a:xfrm>
          <a:prstGeom prst="rect">
            <a:avLst/>
          </a:prstGeom>
        </p:spPr>
      </p:pic>
      <p:pic>
        <p:nvPicPr>
          <p:cNvPr id="5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98080" y="2926080"/>
            <a:ext cx="548640" cy="548640"/>
          </a:xfrm>
          <a:prstGeom prst="rect">
            <a:avLst/>
          </a:prstGeom>
        </p:spPr>
      </p:pic>
      <p:sp>
        <p:nvSpPr>
          <p:cNvPr id="6" name="Text 1"/>
          <p:cNvSpPr/>
          <p:nvPr/>
        </p:nvSpPr>
        <p:spPr>
          <a:xfrm>
            <a:off x="640080" y="1097280"/>
            <a:ext cx="5943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spc="6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MARKETING PLAN</a:t>
            </a:r>
            <a:endParaRPr lang="en-US" sz="1600" dirty="0"/>
          </a:p>
        </p:txBody>
      </p:sp>
      <p:sp>
        <p:nvSpPr>
          <p:cNvPr id="7" name="Text 2"/>
          <p:cNvSpPr/>
          <p:nvPr/>
        </p:nvSpPr>
        <p:spPr>
          <a:xfrm>
            <a:off x="640080" y="1737360"/>
            <a:ext cx="5943600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Driving License</a:t>
            </a:r>
            <a:endParaRPr lang="en-US" sz="4000" dirty="0"/>
          </a:p>
          <a:p>
            <a:pPr indent="0" marL="0">
              <a:lnSpc>
                <a:spcPct val="11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B1/B2 Prep App</a:t>
            </a:r>
            <a:endParaRPr lang="en-US" sz="4000" dirty="0"/>
          </a:p>
        </p:txBody>
      </p:sp>
      <p:sp>
        <p:nvSpPr>
          <p:cNvPr id="8" name="Shape 3"/>
          <p:cNvSpPr/>
          <p:nvPr/>
        </p:nvSpPr>
        <p:spPr>
          <a:xfrm>
            <a:off x="640080" y="3749040"/>
            <a:ext cx="182880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9" name="Text 4"/>
          <p:cNvSpPr/>
          <p:nvPr/>
        </p:nvSpPr>
        <p:spPr>
          <a:xfrm>
            <a:off x="640080" y="397764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Code to Customers — A Developer's Playbook</a:t>
            </a:r>
            <a:endParaRPr lang="en-US" sz="1500" dirty="0"/>
          </a:p>
        </p:txBody>
      </p:sp>
      <p:sp>
        <p:nvSpPr>
          <p:cNvPr id="10" name="Text 5"/>
          <p:cNvSpPr/>
          <p:nvPr/>
        </p:nvSpPr>
        <p:spPr>
          <a:xfrm>
            <a:off x="640080" y="45720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OPPORTUNITY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This Market is Ready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4592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645920"/>
            <a:ext cx="2560320" cy="5486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14400" y="1920240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1440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9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70%+</a:t>
            </a:r>
            <a:endParaRPr lang="en-US" sz="3200" dirty="0"/>
          </a:p>
        </p:txBody>
      </p:sp>
      <p:sp>
        <p:nvSpPr>
          <p:cNvPr id="8" name="Text 5"/>
          <p:cNvSpPr/>
          <p:nvPr/>
        </p:nvSpPr>
        <p:spPr>
          <a:xfrm>
            <a:off x="91440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learners prefer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mobile-first study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3474720" y="164592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3474720" y="1645920"/>
            <a:ext cx="2560320" cy="5486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49040" y="1920240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9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24/7</a:t>
            </a:r>
            <a:endParaRPr lang="en-US" sz="3200" dirty="0"/>
          </a:p>
        </p:txBody>
      </p:sp>
      <p:sp>
        <p:nvSpPr>
          <p:cNvPr id="13" name="Text 9"/>
          <p:cNvSpPr/>
          <p:nvPr/>
        </p:nvSpPr>
        <p:spPr>
          <a:xfrm>
            <a:off x="374904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study demand —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flexibility wins</a:t>
            </a:r>
            <a:endParaRPr lang="en-US" sz="1300" dirty="0"/>
          </a:p>
        </p:txBody>
      </p:sp>
      <p:sp>
        <p:nvSpPr>
          <p:cNvPr id="14" name="Shape 10"/>
          <p:cNvSpPr/>
          <p:nvPr/>
        </p:nvSpPr>
        <p:spPr>
          <a:xfrm>
            <a:off x="6309360" y="1645920"/>
            <a:ext cx="2560320" cy="21031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6309360" y="1645920"/>
            <a:ext cx="2560320" cy="54864"/>
          </a:xfrm>
          <a:prstGeom prst="rect">
            <a:avLst/>
          </a:prstGeom>
          <a:solidFill>
            <a:srgbClr val="F4A261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83680" y="1920240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83680" y="2331720"/>
            <a:ext cx="20116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1B4965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3200" dirty="0"/>
          </a:p>
        </p:txBody>
      </p:sp>
      <p:sp>
        <p:nvSpPr>
          <p:cNvPr id="18" name="Text 13"/>
          <p:cNvSpPr/>
          <p:nvPr/>
        </p:nvSpPr>
        <p:spPr>
          <a:xfrm>
            <a:off x="6583680" y="2834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usage until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exam is passed</a:t>
            </a:r>
            <a:endParaRPr lang="en-US" sz="1300" dirty="0"/>
          </a:p>
        </p:txBody>
      </p:sp>
      <p:sp>
        <p:nvSpPr>
          <p:cNvPr id="19" name="Shape 14"/>
          <p:cNvSpPr/>
          <p:nvPr/>
        </p:nvSpPr>
        <p:spPr>
          <a:xfrm>
            <a:off x="640080" y="4023360"/>
            <a:ext cx="7863840" cy="777240"/>
          </a:xfrm>
          <a:prstGeom prst="rect">
            <a:avLst/>
          </a:prstGeom>
          <a:solidFill>
            <a:srgbClr val="E8F4F8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4160520"/>
            <a:ext cx="320040" cy="320040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1371600" y="4069080"/>
            <a:ext cx="68580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competitors rely on outdated UI and desktop-only experiences. A polished mobile app with modern UX is your biggest competitive advantage.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TARGET AUDIENCE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Who Are Your Users?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3749040" cy="594360"/>
          </a:xfrm>
          <a:prstGeom prst="rect">
            <a:avLst/>
          </a:prstGeom>
          <a:solidFill>
            <a:srgbClr val="1B496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1664208"/>
            <a:ext cx="347472" cy="34747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5727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Primary: Young Adults (18-25)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914400" y="23317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First-time license applicants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Smartphone-native generation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on TikTok, Instagram, YouTube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Price-sensitive — freemium converts well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Motivated by peer success stories</a:t>
            </a:r>
            <a:endParaRPr lang="en-US" sz="1200" dirty="0"/>
          </a:p>
        </p:txBody>
      </p:sp>
      <p:sp>
        <p:nvSpPr>
          <p:cNvPr id="9" name="Shape 6"/>
          <p:cNvSpPr/>
          <p:nvPr/>
        </p:nvSpPr>
        <p:spPr>
          <a:xfrm>
            <a:off x="4754880" y="1554480"/>
            <a:ext cx="374904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754880" y="1554480"/>
            <a:ext cx="3749040" cy="594360"/>
          </a:xfrm>
          <a:prstGeom prst="rect">
            <a:avLst/>
          </a:prstGeom>
          <a:solidFill>
            <a:srgbClr val="1B4965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983480" y="1664208"/>
            <a:ext cx="347472" cy="347472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440680" y="1572768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Secondary: Career Changers (25-40)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5029200" y="2331720"/>
            <a:ext cx="320040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Need license for work or family reasons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study time — value efficiency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Willing to pay for premium features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reviews and recommendations</a:t>
            </a:r>
            <a:endParaRPr lang="en-US" sz="12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Often discover apps via Google Search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EDGE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Why Users Will Pick You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234440" y="1554480"/>
            <a:ext cx="731520" cy="7315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5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71600" y="1691640"/>
            <a:ext cx="457200" cy="45720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64008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 Build It</a:t>
            </a:r>
            <a:endParaRPr lang="en-US" sz="1500" dirty="0"/>
          </a:p>
        </p:txBody>
      </p:sp>
      <p:sp>
        <p:nvSpPr>
          <p:cNvPr id="7" name="Text 4"/>
          <p:cNvSpPr/>
          <p:nvPr/>
        </p:nvSpPr>
        <p:spPr>
          <a:xfrm>
            <a:off x="640080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 a developer, you can iterate fast — fix bugs in hours, ship features in days, not months.</a:t>
            </a:r>
            <a:endParaRPr lang="en-US" sz="1100" dirty="0"/>
          </a:p>
        </p:txBody>
      </p:sp>
      <p:sp>
        <p:nvSpPr>
          <p:cNvPr id="8" name="Shape 5"/>
          <p:cNvSpPr/>
          <p:nvPr/>
        </p:nvSpPr>
        <p:spPr>
          <a:xfrm>
            <a:off x="3383280" y="1554480"/>
            <a:ext cx="731520" cy="7315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691640"/>
            <a:ext cx="457200" cy="457200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278892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Modern UX</a:t>
            </a:r>
            <a:endParaRPr lang="en-US" sz="1500" dirty="0"/>
          </a:p>
        </p:txBody>
      </p:sp>
      <p:sp>
        <p:nvSpPr>
          <p:cNvPr id="11" name="Text 7"/>
          <p:cNvSpPr/>
          <p:nvPr/>
        </p:nvSpPr>
        <p:spPr>
          <a:xfrm>
            <a:off x="2788920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Clean, fast, mobile-first design that makes competitors look like they're stuck in 2010.</a:t>
            </a:r>
            <a:endParaRPr lang="en-US" sz="1100" dirty="0"/>
          </a:p>
        </p:txBody>
      </p:sp>
      <p:sp>
        <p:nvSpPr>
          <p:cNvPr id="12" name="Shape 8"/>
          <p:cNvSpPr/>
          <p:nvPr/>
        </p:nvSpPr>
        <p:spPr>
          <a:xfrm>
            <a:off x="5532120" y="1554480"/>
            <a:ext cx="731520" cy="7315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669280" y="1691640"/>
            <a:ext cx="457200" cy="457200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3776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Practice</a:t>
            </a:r>
            <a:endParaRPr lang="en-US" sz="1500" dirty="0"/>
          </a:p>
        </p:txBody>
      </p:sp>
      <p:sp>
        <p:nvSpPr>
          <p:cNvPr id="15" name="Text 10"/>
          <p:cNvSpPr/>
          <p:nvPr/>
        </p:nvSpPr>
        <p:spPr>
          <a:xfrm>
            <a:off x="4937760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Adaptive quiz engine that focuses on weak areas. Users study smarter, pass faster.</a:t>
            </a:r>
            <a:endParaRPr lang="en-US" sz="1100" dirty="0"/>
          </a:p>
        </p:txBody>
      </p:sp>
      <p:sp>
        <p:nvSpPr>
          <p:cNvPr id="16" name="Shape 11"/>
          <p:cNvSpPr/>
          <p:nvPr/>
        </p:nvSpPr>
        <p:spPr>
          <a:xfrm>
            <a:off x="7680960" y="1554480"/>
            <a:ext cx="731520" cy="73152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69164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086600" y="2468880"/>
            <a:ext cx="1920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Community Loop</a:t>
            </a:r>
            <a:endParaRPr lang="en-US" sz="1500" dirty="0"/>
          </a:p>
        </p:txBody>
      </p:sp>
      <p:sp>
        <p:nvSpPr>
          <p:cNvPr id="19" name="Text 13"/>
          <p:cNvSpPr/>
          <p:nvPr/>
        </p:nvSpPr>
        <p:spPr>
          <a:xfrm>
            <a:off x="7086600" y="2926080"/>
            <a:ext cx="192024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feedback loop with users. They feel heard, you get free product direction.</a:t>
            </a:r>
            <a:endParaRPr lang="en-US" sz="1100" dirty="0"/>
          </a:p>
        </p:txBody>
      </p:sp>
      <p:sp>
        <p:nvSpPr>
          <p:cNvPr id="20" name="Shape 14"/>
          <p:cNvSpPr/>
          <p:nvPr/>
        </p:nvSpPr>
        <p:spPr>
          <a:xfrm>
            <a:off x="640080" y="4206240"/>
            <a:ext cx="7863840" cy="54864"/>
          </a:xfrm>
          <a:prstGeom prst="rect">
            <a:avLst/>
          </a:prstGeom>
          <a:solidFill>
            <a:srgbClr val="F4A261">
              <a:alpha val="50000"/>
            </a:srgbClr>
          </a:solidFill>
          <a:ln/>
        </p:spPr>
      </p:sp>
      <p:sp>
        <p:nvSpPr>
          <p:cNvPr id="21" name="Text 15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i="1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 advantage: You understand analytics, A/B testing, and automation natively. Use those superpowers.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PRE-LAUNCH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Build Buzz Before You Ship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60020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5" name="Text 3"/>
          <p:cNvSpPr/>
          <p:nvPr/>
        </p:nvSpPr>
        <p:spPr>
          <a:xfrm>
            <a:off x="640080" y="160020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371600" y="155448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Page + Waitlist</a:t>
            </a:r>
            <a:endParaRPr lang="en-US" sz="1500" dirty="0"/>
          </a:p>
        </p:txBody>
      </p:sp>
      <p:sp>
        <p:nvSpPr>
          <p:cNvPr id="7" name="Text 5"/>
          <p:cNvSpPr/>
          <p:nvPr/>
        </p:nvSpPr>
        <p:spPr>
          <a:xfrm>
            <a:off x="1371600" y="1874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Simple page with email signup. Offer early access or lifetime discount. Track signups as your first metric.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246888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46888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371600" y="242316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Seeding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1371600" y="274320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free driving tips on TikTok/Instagram Reels. Aim for 2-3 short videos per week. Build audience before launch.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40080" y="333756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33756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1371600" y="329184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Beta Community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1371600" y="3611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50-100 beta testers from driving school forums, Facebook groups, and Reddit. Their feedback is gold.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640080" y="4206240"/>
            <a:ext cx="502920" cy="502920"/>
          </a:xfrm>
          <a:prstGeom prst="ellipse">
            <a:avLst/>
          </a:prstGeom>
          <a:solidFill>
            <a:srgbClr val="1B4965"/>
          </a:solidFill>
          <a:ln/>
        </p:spPr>
      </p:sp>
      <p:sp>
        <p:nvSpPr>
          <p:cNvPr id="17" name="Text 15"/>
          <p:cNvSpPr/>
          <p:nvPr/>
        </p:nvSpPr>
        <p:spPr>
          <a:xfrm>
            <a:off x="640080" y="420624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04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1371600" y="4160520"/>
            <a:ext cx="2926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ASO Prep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1371600" y="44805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keywords (driving test, B1 license, etc.). Prepare App Store screenshots, description, and metadata.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WEEK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30 Days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544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640080" y="1554480"/>
            <a:ext cx="2560320" cy="685800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1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64008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Soft Launch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822960" y="24231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Release to beta testers first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reviews &amp; ratings fast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Fix critical bugs immediately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waitlist with download link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74720" y="15544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3474720" y="1554480"/>
            <a:ext cx="2560320" cy="685800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1" name="Text 9"/>
          <p:cNvSpPr/>
          <p:nvPr/>
        </p:nvSpPr>
        <p:spPr>
          <a:xfrm>
            <a:off x="347472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2-3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347472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Push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0" y="24231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launch video on social channels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 on driving school forums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Product Hunt / app review sites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 small Facebook/Instagram ad test ($5/day)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309360" y="155448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309360" y="1554480"/>
            <a:ext cx="2560320" cy="68580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6" name="Text 14"/>
          <p:cNvSpPr/>
          <p:nvPr/>
        </p:nvSpPr>
        <p:spPr>
          <a:xfrm>
            <a:off x="6309360" y="1572768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Week 4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6309360" y="1920240"/>
            <a:ext cx="2560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D0E8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6492240" y="2423160"/>
            <a:ext cx="219456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which channels drive installs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Double down on what works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 what doesn't</a:t>
            </a:r>
            <a:endParaRPr lang="en-US" sz="110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1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referral program</a:t>
            </a:r>
            <a:endParaRPr lang="en-US" sz="11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GROWTH CHANNELS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Where to Find Your Users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2194560" y="1618488"/>
            <a:ext cx="82296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6" name="Text 4"/>
          <p:cNvSpPr/>
          <p:nvPr/>
        </p:nvSpPr>
        <p:spPr>
          <a:xfrm>
            <a:off x="2194560" y="1618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900" dirty="0"/>
          </a:p>
        </p:txBody>
      </p:sp>
      <p:pic>
        <p:nvPicPr>
          <p:cNvPr id="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645920"/>
            <a:ext cx="292608" cy="292608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188720" y="1618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TikTok / Reels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822960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 driving tips, memes about failing tests, before/after pass stories. Highest organic reach.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3474720" y="150876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11" name="Shape 8"/>
          <p:cNvSpPr/>
          <p:nvPr/>
        </p:nvSpPr>
        <p:spPr>
          <a:xfrm>
            <a:off x="5029200" y="1618488"/>
            <a:ext cx="82296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2" name="Text 9"/>
          <p:cNvSpPr/>
          <p:nvPr/>
        </p:nvSpPr>
        <p:spPr>
          <a:xfrm>
            <a:off x="5029200" y="1618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900" dirty="0"/>
          </a:p>
        </p:txBody>
      </p:sp>
      <p:pic>
        <p:nvPicPr>
          <p:cNvPr id="1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0" y="1645920"/>
            <a:ext cx="292608" cy="292608"/>
          </a:xfrm>
          <a:prstGeom prst="rect">
            <a:avLst/>
          </a:prstGeom>
        </p:spPr>
      </p:pic>
      <p:sp>
        <p:nvSpPr>
          <p:cNvPr id="14" name="Text 10"/>
          <p:cNvSpPr/>
          <p:nvPr/>
        </p:nvSpPr>
        <p:spPr>
          <a:xfrm>
            <a:off x="4023360" y="1618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YouTube</a:t>
            </a:r>
            <a:endParaRPr lang="en-US" sz="1300" dirty="0"/>
          </a:p>
        </p:txBody>
      </p:sp>
      <p:sp>
        <p:nvSpPr>
          <p:cNvPr id="15" name="Text 11"/>
          <p:cNvSpPr/>
          <p:nvPr/>
        </p:nvSpPr>
        <p:spPr>
          <a:xfrm>
            <a:off x="3657600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Theory explainers, full mock exams, "pass on first try" content. Great for SEO.</a:t>
            </a:r>
            <a:endParaRPr lang="en-US" sz="1000" dirty="0"/>
          </a:p>
        </p:txBody>
      </p:sp>
      <p:sp>
        <p:nvSpPr>
          <p:cNvPr id="16" name="Shape 12"/>
          <p:cNvSpPr/>
          <p:nvPr/>
        </p:nvSpPr>
        <p:spPr>
          <a:xfrm>
            <a:off x="6309360" y="150876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7863840" y="1618488"/>
            <a:ext cx="822960" cy="274320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18" name="Text 14"/>
          <p:cNvSpPr/>
          <p:nvPr/>
        </p:nvSpPr>
        <p:spPr>
          <a:xfrm>
            <a:off x="7863840" y="161848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900" dirty="0"/>
          </a:p>
        </p:txBody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2240" y="1645920"/>
            <a:ext cx="292608" cy="292608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6858000" y="161848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Google Ads (Search)</a:t>
            </a:r>
            <a:endParaRPr lang="en-US" sz="1300" dirty="0"/>
          </a:p>
        </p:txBody>
      </p:sp>
      <p:sp>
        <p:nvSpPr>
          <p:cNvPr id="21" name="Text 16"/>
          <p:cNvSpPr/>
          <p:nvPr/>
        </p:nvSpPr>
        <p:spPr>
          <a:xfrm>
            <a:off x="6492240" y="205740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Target "driving license app", "B1 test prep". High intent = high conversion.</a:t>
            </a:r>
            <a:endParaRPr lang="en-US" sz="1000" dirty="0"/>
          </a:p>
        </p:txBody>
      </p:sp>
      <p:sp>
        <p:nvSpPr>
          <p:cNvPr id="22" name="Shape 17"/>
          <p:cNvSpPr/>
          <p:nvPr/>
        </p:nvSpPr>
        <p:spPr>
          <a:xfrm>
            <a:off x="640080" y="329184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23" name="Shape 18"/>
          <p:cNvSpPr/>
          <p:nvPr/>
        </p:nvSpPr>
        <p:spPr>
          <a:xfrm>
            <a:off x="2194560" y="3401568"/>
            <a:ext cx="822960" cy="274320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24" name="Text 19"/>
          <p:cNvSpPr/>
          <p:nvPr/>
        </p:nvSpPr>
        <p:spPr>
          <a:xfrm>
            <a:off x="2194560" y="3401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900" dirty="0"/>
          </a:p>
        </p:txBody>
      </p:sp>
      <p:pic>
        <p:nvPicPr>
          <p:cNvPr id="2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3429000"/>
            <a:ext cx="292608" cy="292608"/>
          </a:xfrm>
          <a:prstGeom prst="rect">
            <a:avLst/>
          </a:prstGeom>
        </p:spPr>
      </p:pic>
      <p:sp>
        <p:nvSpPr>
          <p:cNvPr id="26" name="Text 20"/>
          <p:cNvSpPr/>
          <p:nvPr/>
        </p:nvSpPr>
        <p:spPr>
          <a:xfrm>
            <a:off x="118872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Facebook Groups</a:t>
            </a:r>
            <a:endParaRPr lang="en-US" sz="1300" dirty="0"/>
          </a:p>
        </p:txBody>
      </p:sp>
      <p:sp>
        <p:nvSpPr>
          <p:cNvPr id="27" name="Text 21"/>
          <p:cNvSpPr/>
          <p:nvPr/>
        </p:nvSpPr>
        <p:spPr>
          <a:xfrm>
            <a:off x="822960" y="3840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Join driving school communities. Help people, don't spam. Build trust first.</a:t>
            </a:r>
            <a:endParaRPr lang="en-US" sz="1000" dirty="0"/>
          </a:p>
        </p:txBody>
      </p:sp>
      <p:sp>
        <p:nvSpPr>
          <p:cNvPr id="28" name="Shape 22"/>
          <p:cNvSpPr/>
          <p:nvPr/>
        </p:nvSpPr>
        <p:spPr>
          <a:xfrm>
            <a:off x="3474720" y="329184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29" name="Shape 23"/>
          <p:cNvSpPr/>
          <p:nvPr/>
        </p:nvSpPr>
        <p:spPr>
          <a:xfrm>
            <a:off x="5029200" y="3401568"/>
            <a:ext cx="822960" cy="274320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30" name="Text 24"/>
          <p:cNvSpPr/>
          <p:nvPr/>
        </p:nvSpPr>
        <p:spPr>
          <a:xfrm>
            <a:off x="5029200" y="3401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HIGH</a:t>
            </a:r>
            <a:endParaRPr lang="en-US" sz="900" dirty="0"/>
          </a:p>
        </p:txBody>
      </p:sp>
      <p:pic>
        <p:nvPicPr>
          <p:cNvPr id="3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657600" y="3429000"/>
            <a:ext cx="292608" cy="292608"/>
          </a:xfrm>
          <a:prstGeom prst="rect">
            <a:avLst/>
          </a:prstGeom>
        </p:spPr>
      </p:pic>
      <p:sp>
        <p:nvSpPr>
          <p:cNvPr id="32" name="Text 25"/>
          <p:cNvSpPr/>
          <p:nvPr/>
        </p:nvSpPr>
        <p:spPr>
          <a:xfrm>
            <a:off x="402336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(ASO)</a:t>
            </a:r>
            <a:endParaRPr lang="en-US" sz="1300" dirty="0"/>
          </a:p>
        </p:txBody>
      </p:sp>
      <p:sp>
        <p:nvSpPr>
          <p:cNvPr id="33" name="Text 26"/>
          <p:cNvSpPr/>
          <p:nvPr/>
        </p:nvSpPr>
        <p:spPr>
          <a:xfrm>
            <a:off x="3657600" y="3840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Optimize title, keywords, screenshots. Free installs from search traffic.</a:t>
            </a:r>
            <a:endParaRPr lang="en-US" sz="1000" dirty="0"/>
          </a:p>
        </p:txBody>
      </p:sp>
      <p:sp>
        <p:nvSpPr>
          <p:cNvPr id="34" name="Shape 27"/>
          <p:cNvSpPr/>
          <p:nvPr/>
        </p:nvSpPr>
        <p:spPr>
          <a:xfrm>
            <a:off x="6309360" y="329184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35" name="Shape 28"/>
          <p:cNvSpPr/>
          <p:nvPr/>
        </p:nvSpPr>
        <p:spPr>
          <a:xfrm>
            <a:off x="7863840" y="3401568"/>
            <a:ext cx="822960" cy="274320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36" name="Text 29"/>
          <p:cNvSpPr/>
          <p:nvPr/>
        </p:nvSpPr>
        <p:spPr>
          <a:xfrm>
            <a:off x="7863840" y="3401568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MED</a:t>
            </a:r>
            <a:endParaRPr lang="en-US" sz="900" dirty="0"/>
          </a:p>
        </p:txBody>
      </p:sp>
      <p:pic>
        <p:nvPicPr>
          <p:cNvPr id="37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92240" y="3429000"/>
            <a:ext cx="292608" cy="292608"/>
          </a:xfrm>
          <a:prstGeom prst="rect">
            <a:avLst/>
          </a:prstGeom>
        </p:spPr>
      </p:pic>
      <p:sp>
        <p:nvSpPr>
          <p:cNvPr id="38" name="Text 30"/>
          <p:cNvSpPr/>
          <p:nvPr/>
        </p:nvSpPr>
        <p:spPr>
          <a:xfrm>
            <a:off x="6858000" y="3401568"/>
            <a:ext cx="10058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Referral Program</a:t>
            </a:r>
            <a:endParaRPr lang="en-US" sz="1300" dirty="0"/>
          </a:p>
        </p:txBody>
      </p:sp>
      <p:sp>
        <p:nvSpPr>
          <p:cNvPr id="39" name="Text 31"/>
          <p:cNvSpPr/>
          <p:nvPr/>
        </p:nvSpPr>
        <p:spPr>
          <a:xfrm>
            <a:off x="6492240" y="384048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B0BEC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"Invite a friend, both get premium free for a week". Users recruit users.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BUDGET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Smart Spending: $500/Month</a:t>
            </a:r>
            <a:endParaRPr lang="en-US" sz="30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274320" y="1463040"/>
          <a:ext cx="384048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4572000" y="155448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754880" y="155448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Paid Ads (Facebook/Google)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4754880" y="190195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at $5-8/day, test audiences</a:t>
            </a:r>
            <a:endParaRPr lang="en-US" sz="1000" dirty="0"/>
          </a:p>
        </p:txBody>
      </p:sp>
      <p:sp>
        <p:nvSpPr>
          <p:cNvPr id="8" name="Text 5"/>
          <p:cNvSpPr/>
          <p:nvPr/>
        </p:nvSpPr>
        <p:spPr>
          <a:xfrm>
            <a:off x="7498080" y="155448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$250/mo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572000" y="242316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754880" y="242316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 Tools (Canva Pro, CapCut)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4754880" y="277063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Templates for social media content</a:t>
            </a:r>
            <a:endParaRPr lang="en-US" sz="1000" dirty="0"/>
          </a:p>
        </p:txBody>
      </p:sp>
      <p:sp>
        <p:nvSpPr>
          <p:cNvPr id="12" name="Text 9"/>
          <p:cNvSpPr/>
          <p:nvPr/>
        </p:nvSpPr>
        <p:spPr>
          <a:xfrm>
            <a:off x="7498080" y="242316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$100/mo</a:t>
            </a:r>
            <a:endParaRPr lang="en-US" sz="1400" dirty="0"/>
          </a:p>
        </p:txBody>
      </p:sp>
      <p:sp>
        <p:nvSpPr>
          <p:cNvPr id="13" name="Shape 10"/>
          <p:cNvSpPr/>
          <p:nvPr/>
        </p:nvSpPr>
        <p:spPr>
          <a:xfrm>
            <a:off x="4572000" y="329184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4" name="Text 11"/>
          <p:cNvSpPr/>
          <p:nvPr/>
        </p:nvSpPr>
        <p:spPr>
          <a:xfrm>
            <a:off x="4754880" y="3291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ASO &amp; Analytics (Sensor Tower lite)</a:t>
            </a:r>
            <a:endParaRPr lang="en-US" sz="1200" dirty="0"/>
          </a:p>
        </p:txBody>
      </p:sp>
      <p:sp>
        <p:nvSpPr>
          <p:cNvPr id="15" name="Text 12"/>
          <p:cNvSpPr/>
          <p:nvPr/>
        </p:nvSpPr>
        <p:spPr>
          <a:xfrm>
            <a:off x="4754880" y="36393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Keyword tracking, competitor monitoring</a:t>
            </a:r>
            <a:endParaRPr lang="en-US" sz="1000" dirty="0"/>
          </a:p>
        </p:txBody>
      </p:sp>
      <p:sp>
        <p:nvSpPr>
          <p:cNvPr id="16" name="Text 13"/>
          <p:cNvSpPr/>
          <p:nvPr/>
        </p:nvSpPr>
        <p:spPr>
          <a:xfrm>
            <a:off x="7498080" y="329184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$75/mo</a:t>
            </a:r>
            <a:endParaRPr lang="en-US" sz="1400" dirty="0"/>
          </a:p>
        </p:txBody>
      </p:sp>
      <p:sp>
        <p:nvSpPr>
          <p:cNvPr id="17" name="Shape 14"/>
          <p:cNvSpPr/>
          <p:nvPr/>
        </p:nvSpPr>
        <p:spPr>
          <a:xfrm>
            <a:off x="4572000" y="4160520"/>
            <a:ext cx="4114800" cy="7315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8" name="Text 15"/>
          <p:cNvSpPr/>
          <p:nvPr/>
        </p:nvSpPr>
        <p:spPr>
          <a:xfrm>
            <a:off x="4754880" y="416052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Reserve / Experiments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4754880" y="4507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Influencer gifts, seasonal campaigns</a:t>
            </a:r>
            <a:endParaRPr lang="en-US" sz="1000" dirty="0"/>
          </a:p>
        </p:txBody>
      </p:sp>
      <p:sp>
        <p:nvSpPr>
          <p:cNvPr id="20" name="Text 17"/>
          <p:cNvSpPr/>
          <p:nvPr/>
        </p:nvSpPr>
        <p:spPr>
          <a:xfrm>
            <a:off x="7498080" y="4160520"/>
            <a:ext cx="1005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$75/mo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STACK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8229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The Developer's Marketing Toolkit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5087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594360" y="1645920"/>
            <a:ext cx="457200" cy="45720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737360"/>
            <a:ext cx="274320" cy="27432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43000" y="16733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Analytics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9436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Analytics, Mixpanel (free tier), PostHog</a:t>
            </a:r>
            <a:endParaRPr lang="en-US" sz="1000" dirty="0"/>
          </a:p>
        </p:txBody>
      </p:sp>
      <p:sp>
        <p:nvSpPr>
          <p:cNvPr id="9" name="Shape 6"/>
          <p:cNvSpPr/>
          <p:nvPr/>
        </p:nvSpPr>
        <p:spPr>
          <a:xfrm>
            <a:off x="2606040" y="15087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2743200" y="1645920"/>
            <a:ext cx="457200" cy="45720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34640" y="1737360"/>
            <a:ext cx="274320" cy="27432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291840" y="16733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Landing Page</a:t>
            </a:r>
            <a:endParaRPr lang="en-US" sz="1300" dirty="0"/>
          </a:p>
        </p:txBody>
      </p:sp>
      <p:sp>
        <p:nvSpPr>
          <p:cNvPr id="13" name="Text 9"/>
          <p:cNvSpPr/>
          <p:nvPr/>
        </p:nvSpPr>
        <p:spPr>
          <a:xfrm>
            <a:off x="274320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Next.js + Vercel (free), or Carrd ($19/yr)</a:t>
            </a:r>
            <a:endParaRPr lang="en-US" sz="1000" dirty="0"/>
          </a:p>
        </p:txBody>
      </p:sp>
      <p:sp>
        <p:nvSpPr>
          <p:cNvPr id="14" name="Shape 10"/>
          <p:cNvSpPr/>
          <p:nvPr/>
        </p:nvSpPr>
        <p:spPr>
          <a:xfrm>
            <a:off x="4754880" y="15087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4892040" y="1645920"/>
            <a:ext cx="457200" cy="45720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83480" y="1737360"/>
            <a:ext cx="274320" cy="27432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440680" y="16733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Email</a:t>
            </a:r>
            <a:endParaRPr lang="en-US" sz="1300" dirty="0"/>
          </a:p>
        </p:txBody>
      </p:sp>
      <p:sp>
        <p:nvSpPr>
          <p:cNvPr id="18" name="Text 13"/>
          <p:cNvSpPr/>
          <p:nvPr/>
        </p:nvSpPr>
        <p:spPr>
          <a:xfrm>
            <a:off x="489204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Resend (free tier) or Mailchimp (free up to 500)</a:t>
            </a:r>
            <a:endParaRPr lang="en-US" sz="1000" dirty="0"/>
          </a:p>
        </p:txBody>
      </p:sp>
      <p:sp>
        <p:nvSpPr>
          <p:cNvPr id="19" name="Shape 14"/>
          <p:cNvSpPr/>
          <p:nvPr/>
        </p:nvSpPr>
        <p:spPr>
          <a:xfrm>
            <a:off x="6903720" y="150876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7040880" y="1645920"/>
            <a:ext cx="457200" cy="45720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737360"/>
            <a:ext cx="274320" cy="27432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589520" y="167335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Content</a:t>
            </a:r>
            <a:endParaRPr lang="en-US" sz="1300" dirty="0"/>
          </a:p>
        </p:txBody>
      </p:sp>
      <p:sp>
        <p:nvSpPr>
          <p:cNvPr id="23" name="Text 17"/>
          <p:cNvSpPr/>
          <p:nvPr/>
        </p:nvSpPr>
        <p:spPr>
          <a:xfrm>
            <a:off x="7040880" y="224028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Canva (free/pro), CapCut (free), ChatGPT for copy</a:t>
            </a:r>
            <a:endParaRPr lang="en-US" sz="1000" dirty="0"/>
          </a:p>
        </p:txBody>
      </p:sp>
      <p:sp>
        <p:nvSpPr>
          <p:cNvPr id="24" name="Shape 18"/>
          <p:cNvSpPr/>
          <p:nvPr/>
        </p:nvSpPr>
        <p:spPr>
          <a:xfrm>
            <a:off x="457200" y="329184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25" name="Shape 19"/>
          <p:cNvSpPr/>
          <p:nvPr/>
        </p:nvSpPr>
        <p:spPr>
          <a:xfrm>
            <a:off x="594360" y="3429000"/>
            <a:ext cx="457200" cy="45720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3520440"/>
            <a:ext cx="274320" cy="274320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1143000" y="34564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ASO</a:t>
            </a:r>
            <a:endParaRPr lang="en-US" sz="1300" dirty="0"/>
          </a:p>
        </p:txBody>
      </p:sp>
      <p:sp>
        <p:nvSpPr>
          <p:cNvPr id="28" name="Text 21"/>
          <p:cNvSpPr/>
          <p:nvPr/>
        </p:nvSpPr>
        <p:spPr>
          <a:xfrm>
            <a:off x="594360" y="4023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AppFollow (free tier), keyword research via manual search</a:t>
            </a:r>
            <a:endParaRPr lang="en-US" sz="1000" dirty="0"/>
          </a:p>
        </p:txBody>
      </p:sp>
      <p:sp>
        <p:nvSpPr>
          <p:cNvPr id="29" name="Shape 22"/>
          <p:cNvSpPr/>
          <p:nvPr/>
        </p:nvSpPr>
        <p:spPr>
          <a:xfrm>
            <a:off x="2606040" y="329184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0" name="Shape 23"/>
          <p:cNvSpPr/>
          <p:nvPr/>
        </p:nvSpPr>
        <p:spPr>
          <a:xfrm>
            <a:off x="2743200" y="3429000"/>
            <a:ext cx="457200" cy="45720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3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34640" y="3520440"/>
            <a:ext cx="274320" cy="274320"/>
          </a:xfrm>
          <a:prstGeom prst="rect">
            <a:avLst/>
          </a:prstGeom>
        </p:spPr>
      </p:pic>
      <p:sp>
        <p:nvSpPr>
          <p:cNvPr id="32" name="Text 24"/>
          <p:cNvSpPr/>
          <p:nvPr/>
        </p:nvSpPr>
        <p:spPr>
          <a:xfrm>
            <a:off x="3291840" y="34564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Social</a:t>
            </a:r>
            <a:endParaRPr lang="en-US" sz="1300" dirty="0"/>
          </a:p>
        </p:txBody>
      </p:sp>
      <p:sp>
        <p:nvSpPr>
          <p:cNvPr id="33" name="Text 25"/>
          <p:cNvSpPr/>
          <p:nvPr/>
        </p:nvSpPr>
        <p:spPr>
          <a:xfrm>
            <a:off x="2743200" y="4023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 (free tier) for scheduling, Later for Instagram</a:t>
            </a:r>
            <a:endParaRPr lang="en-US" sz="1000" dirty="0"/>
          </a:p>
        </p:txBody>
      </p:sp>
      <p:sp>
        <p:nvSpPr>
          <p:cNvPr id="34" name="Shape 26"/>
          <p:cNvSpPr/>
          <p:nvPr/>
        </p:nvSpPr>
        <p:spPr>
          <a:xfrm>
            <a:off x="4754880" y="329184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35" name="Shape 27"/>
          <p:cNvSpPr/>
          <p:nvPr/>
        </p:nvSpPr>
        <p:spPr>
          <a:xfrm>
            <a:off x="4892040" y="3429000"/>
            <a:ext cx="457200" cy="45720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36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983480" y="3520440"/>
            <a:ext cx="274320" cy="274320"/>
          </a:xfrm>
          <a:prstGeom prst="rect">
            <a:avLst/>
          </a:prstGeom>
        </p:spPr>
      </p:pic>
      <p:sp>
        <p:nvSpPr>
          <p:cNvPr id="37" name="Text 28"/>
          <p:cNvSpPr/>
          <p:nvPr/>
        </p:nvSpPr>
        <p:spPr>
          <a:xfrm>
            <a:off x="5440680" y="34564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Referrals</a:t>
            </a:r>
            <a:endParaRPr lang="en-US" sz="1300" dirty="0"/>
          </a:p>
        </p:txBody>
      </p:sp>
      <p:sp>
        <p:nvSpPr>
          <p:cNvPr id="38" name="Text 29"/>
          <p:cNvSpPr/>
          <p:nvPr/>
        </p:nvSpPr>
        <p:spPr>
          <a:xfrm>
            <a:off x="4892040" y="4023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your own (you're an engineer!) or use Branch.io</a:t>
            </a:r>
            <a:endParaRPr lang="en-US" sz="1000" dirty="0"/>
          </a:p>
        </p:txBody>
      </p:sp>
      <p:sp>
        <p:nvSpPr>
          <p:cNvPr id="39" name="Shape 30"/>
          <p:cNvSpPr/>
          <p:nvPr/>
        </p:nvSpPr>
        <p:spPr>
          <a:xfrm>
            <a:off x="6903720" y="3291840"/>
            <a:ext cx="1965960" cy="15544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40" name="Shape 31"/>
          <p:cNvSpPr/>
          <p:nvPr/>
        </p:nvSpPr>
        <p:spPr>
          <a:xfrm>
            <a:off x="7040880" y="3429000"/>
            <a:ext cx="457200" cy="457200"/>
          </a:xfrm>
          <a:prstGeom prst="ellipse">
            <a:avLst/>
          </a:prstGeom>
          <a:solidFill>
            <a:srgbClr val="E8F4F8"/>
          </a:solidFill>
          <a:ln/>
        </p:spPr>
      </p:sp>
      <p:pic>
        <p:nvPicPr>
          <p:cNvPr id="41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132320" y="3520440"/>
            <a:ext cx="274320" cy="274320"/>
          </a:xfrm>
          <a:prstGeom prst="rect">
            <a:avLst/>
          </a:prstGeom>
        </p:spPr>
      </p:pic>
      <p:sp>
        <p:nvSpPr>
          <p:cNvPr id="42" name="Text 32"/>
          <p:cNvSpPr/>
          <p:nvPr/>
        </p:nvSpPr>
        <p:spPr>
          <a:xfrm>
            <a:off x="7589520" y="3456432"/>
            <a:ext cx="118872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A/B Testing</a:t>
            </a:r>
            <a:endParaRPr lang="en-US" sz="1300" dirty="0"/>
          </a:p>
        </p:txBody>
      </p:sp>
      <p:sp>
        <p:nvSpPr>
          <p:cNvPr id="43" name="Text 33"/>
          <p:cNvSpPr/>
          <p:nvPr/>
        </p:nvSpPr>
        <p:spPr>
          <a:xfrm>
            <a:off x="7040880" y="4023360"/>
            <a:ext cx="16916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6B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Firebase Remote Config (free), custom feature flags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TRACK SUCCESS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Metrics That Matter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640080" y="150876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Daily Active Users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82296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500+ by Month 3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2296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engagement indicator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474720" y="150876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9" name="Text 7"/>
          <p:cNvSpPr/>
          <p:nvPr/>
        </p:nvSpPr>
        <p:spPr>
          <a:xfrm>
            <a:off x="365760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D7 Retention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365760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30%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Are users coming back after a week?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309360" y="150876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13" name="Text 11"/>
          <p:cNvSpPr/>
          <p:nvPr/>
        </p:nvSpPr>
        <p:spPr>
          <a:xfrm>
            <a:off x="6492240" y="16459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Cost Per Install (CPI)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6492240" y="20116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&lt; $1.50</a:t>
            </a:r>
            <a:endParaRPr lang="en-US" sz="2200" dirty="0"/>
          </a:p>
        </p:txBody>
      </p:sp>
      <p:sp>
        <p:nvSpPr>
          <p:cNvPr id="15" name="Text 13"/>
          <p:cNvSpPr/>
          <p:nvPr/>
        </p:nvSpPr>
        <p:spPr>
          <a:xfrm>
            <a:off x="6492240" y="246888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ad spend efficient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640080" y="329184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17" name="Text 15"/>
          <p:cNvSpPr/>
          <p:nvPr/>
        </p:nvSpPr>
        <p:spPr>
          <a:xfrm>
            <a:off x="82296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App Store Rating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82296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4.5+ stars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822960" y="4251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Social proof drives organic installs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474720" y="329184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21" name="Text 19"/>
          <p:cNvSpPr/>
          <p:nvPr/>
        </p:nvSpPr>
        <p:spPr>
          <a:xfrm>
            <a:off x="365760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Conversion to Premium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365760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5%</a:t>
            </a:r>
            <a:endParaRPr lang="en-US" sz="2200" dirty="0"/>
          </a:p>
        </p:txBody>
      </p:sp>
      <p:sp>
        <p:nvSpPr>
          <p:cNvPr id="23" name="Text 21"/>
          <p:cNvSpPr/>
          <p:nvPr/>
        </p:nvSpPr>
        <p:spPr>
          <a:xfrm>
            <a:off x="3657600" y="4251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sustainability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309360" y="3291840"/>
            <a:ext cx="2560320" cy="1554480"/>
          </a:xfrm>
          <a:prstGeom prst="rect">
            <a:avLst/>
          </a:prstGeom>
          <a:solidFill>
            <a:srgbClr val="1B4965">
              <a:alpha val="70000"/>
            </a:srgbClr>
          </a:solidFill>
          <a:ln/>
        </p:spPr>
      </p:sp>
      <p:sp>
        <p:nvSpPr>
          <p:cNvPr id="25" name="Text 23"/>
          <p:cNvSpPr/>
          <p:nvPr/>
        </p:nvSpPr>
        <p:spPr>
          <a:xfrm>
            <a:off x="6492240" y="342900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Referral Rate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6492240" y="37947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&gt; 10%</a:t>
            </a:r>
            <a:endParaRPr lang="en-US" sz="2200" dirty="0"/>
          </a:p>
        </p:txBody>
      </p:sp>
      <p:sp>
        <p:nvSpPr>
          <p:cNvPr id="27" name="Text 25"/>
          <p:cNvSpPr/>
          <p:nvPr/>
        </p:nvSpPr>
        <p:spPr>
          <a:xfrm>
            <a:off x="6492240" y="42519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8899A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Viral growth indicator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9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ROADMAP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90-Day Action Plan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457200" y="146304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457200" y="1463040"/>
            <a:ext cx="2651760" cy="54864"/>
          </a:xfrm>
          <a:prstGeom prst="rect">
            <a:avLst/>
          </a:prstGeom>
          <a:solidFill>
            <a:srgbClr val="62B6CB"/>
          </a:solidFill>
          <a:ln/>
        </p:spPr>
      </p:sp>
      <p:sp>
        <p:nvSpPr>
          <p:cNvPr id="6" name="Text 4"/>
          <p:cNvSpPr/>
          <p:nvPr/>
        </p:nvSpPr>
        <p:spPr>
          <a:xfrm>
            <a:off x="64008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62B6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1-30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64008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Foundation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640080" y="2240280"/>
            <a:ext cx="228600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" y="233172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landing page + waitlist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social media accounts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 2-3 videos/week on TikTok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Recruit beta testers (target: 50+)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up Firebase Analytics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Research ASO keywords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3383280" y="146304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383280" y="1463040"/>
            <a:ext cx="2651760" cy="54864"/>
          </a:xfrm>
          <a:prstGeom prst="rect">
            <a:avLst/>
          </a:prstGeom>
          <a:solidFill>
            <a:srgbClr val="1B4965"/>
          </a:solidFill>
          <a:ln/>
        </p:spPr>
      </p:sp>
      <p:sp>
        <p:nvSpPr>
          <p:cNvPr id="12" name="Text 10"/>
          <p:cNvSpPr/>
          <p:nvPr/>
        </p:nvSpPr>
        <p:spPr>
          <a:xfrm>
            <a:off x="356616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496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31-60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56616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Launch &amp; Learn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3566160" y="2240280"/>
            <a:ext cx="228600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15" name="Text 13"/>
          <p:cNvSpPr/>
          <p:nvPr/>
        </p:nvSpPr>
        <p:spPr>
          <a:xfrm>
            <a:off x="3566160" y="233172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on App Store / Play Store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Email waitlist on day 1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small ad campaigns ($5/day)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Submit to Product Hunt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and respond to all reviews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Implement in-app referral system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309360" y="1463040"/>
            <a:ext cx="2651760" cy="338328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0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309360" y="1463040"/>
            <a:ext cx="265176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18" name="Text 16"/>
          <p:cNvSpPr/>
          <p:nvPr/>
        </p:nvSpPr>
        <p:spPr>
          <a:xfrm>
            <a:off x="6492240" y="160020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4A2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Days 61-90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6492240" y="187452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Scale Winners</a:t>
            </a:r>
            <a:endParaRPr lang="en-US" sz="1600" dirty="0"/>
          </a:p>
        </p:txBody>
      </p:sp>
      <p:sp>
        <p:nvSpPr>
          <p:cNvPr id="20" name="Shape 18"/>
          <p:cNvSpPr/>
          <p:nvPr/>
        </p:nvSpPr>
        <p:spPr>
          <a:xfrm>
            <a:off x="6492240" y="2240280"/>
            <a:ext cx="2286000" cy="18288"/>
          </a:xfrm>
          <a:prstGeom prst="rect">
            <a:avLst/>
          </a:prstGeom>
          <a:solidFill>
            <a:srgbClr val="E0E0E0"/>
          </a:solidFill>
          <a:ln/>
        </p:spPr>
      </p:sp>
      <p:sp>
        <p:nvSpPr>
          <p:cNvPr id="21" name="Text 19"/>
          <p:cNvSpPr/>
          <p:nvPr/>
        </p:nvSpPr>
        <p:spPr>
          <a:xfrm>
            <a:off x="6492240" y="2331720"/>
            <a:ext cx="2286000" cy="2331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Analyze channel performance data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ads on best-performing channels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Partner with 2-3 micro-influencers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Launch premium/freemium split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email drip for inactive users</a:t>
            </a:r>
            <a:endParaRPr lang="en-US" sz="1050" dirty="0"/>
          </a:p>
          <a:p>
            <a:pPr marL="342900" indent="-342900">
              <a:spcAft>
                <a:spcPts val="400"/>
              </a:spcAft>
              <a:buSzPct val="100000"/>
              <a:buChar char="•"/>
            </a:pPr>
            <a:r>
              <a:rPr lang="en-US" sz="105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 V2 features based on feedback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0B13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 rot="-480000">
            <a:off x="-914400" y="-457200"/>
            <a:ext cx="3657600" cy="6057900"/>
          </a:xfrm>
          <a:prstGeom prst="rect">
            <a:avLst/>
          </a:prstGeom>
          <a:solidFill>
            <a:srgbClr val="1B4965">
              <a:alpha val="60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640080" y="365760"/>
            <a:ext cx="4572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400" kern="0" dirty="0">
                <a:solidFill>
                  <a:srgbClr val="62B6CB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LET'S GO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640080" y="73152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Key Takeaways</a:t>
            </a:r>
            <a:endParaRPr lang="en-US" sz="3000" dirty="0"/>
          </a:p>
        </p:txBody>
      </p:sp>
      <p:sp>
        <p:nvSpPr>
          <p:cNvPr id="5" name="Shape 3"/>
          <p:cNvSpPr/>
          <p:nvPr/>
        </p:nvSpPr>
        <p:spPr>
          <a:xfrm>
            <a:off x="822960" y="146304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32688" y="1572768"/>
            <a:ext cx="237744" cy="23774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08760" y="141732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marketing before the app is done — build your audience now</a:t>
            </a:r>
            <a:endParaRPr lang="en-US" sz="1500" dirty="0"/>
          </a:p>
        </p:txBody>
      </p:sp>
      <p:sp>
        <p:nvSpPr>
          <p:cNvPr id="8" name="Shape 5"/>
          <p:cNvSpPr/>
          <p:nvPr/>
        </p:nvSpPr>
        <p:spPr>
          <a:xfrm>
            <a:off x="822960" y="205740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2688" y="2167128"/>
            <a:ext cx="237744" cy="237744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508760" y="20116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Short-form video (TikTok/Reels) is your #1 free growth lever</a:t>
            </a:r>
            <a:endParaRPr lang="en-US" sz="1500" dirty="0"/>
          </a:p>
        </p:txBody>
      </p:sp>
      <p:sp>
        <p:nvSpPr>
          <p:cNvPr id="11" name="Shape 7"/>
          <p:cNvSpPr/>
          <p:nvPr/>
        </p:nvSpPr>
        <p:spPr>
          <a:xfrm>
            <a:off x="822960" y="265176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32688" y="2761488"/>
            <a:ext cx="237744" cy="237744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1508760" y="260604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engineering skills are a superpower — automate and iterate fast</a:t>
            </a:r>
            <a:endParaRPr lang="en-US" sz="1500" dirty="0"/>
          </a:p>
        </p:txBody>
      </p:sp>
      <p:sp>
        <p:nvSpPr>
          <p:cNvPr id="14" name="Shape 9"/>
          <p:cNvSpPr/>
          <p:nvPr/>
        </p:nvSpPr>
        <p:spPr>
          <a:xfrm>
            <a:off x="822960" y="324612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32688" y="3355848"/>
            <a:ext cx="237744" cy="237744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1508760" y="320040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Focus on 2-3 channels max — depth beats breadth at this stage</a:t>
            </a:r>
            <a:endParaRPr lang="en-US" sz="1500" dirty="0"/>
          </a:p>
        </p:txBody>
      </p:sp>
      <p:sp>
        <p:nvSpPr>
          <p:cNvPr id="17" name="Shape 11"/>
          <p:cNvSpPr/>
          <p:nvPr/>
        </p:nvSpPr>
        <p:spPr>
          <a:xfrm>
            <a:off x="822960" y="3840480"/>
            <a:ext cx="457200" cy="457200"/>
          </a:xfrm>
          <a:prstGeom prst="ellipse">
            <a:avLst/>
          </a:prstGeom>
          <a:solidFill>
            <a:srgbClr val="1B496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32688" y="3950208"/>
            <a:ext cx="237744" cy="237744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1508760" y="379476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 everything. Let data guide your next dollar and next hour</a:t>
            </a:r>
            <a:endParaRPr lang="en-US" sz="1500" dirty="0"/>
          </a:p>
        </p:txBody>
      </p:sp>
      <p:sp>
        <p:nvSpPr>
          <p:cNvPr id="20" name="Shape 13"/>
          <p:cNvSpPr/>
          <p:nvPr/>
        </p:nvSpPr>
        <p:spPr>
          <a:xfrm>
            <a:off x="640080" y="4251960"/>
            <a:ext cx="7863840" cy="54864"/>
          </a:xfrm>
          <a:prstGeom prst="rect">
            <a:avLst/>
          </a:prstGeom>
          <a:solidFill>
            <a:srgbClr val="F4A261"/>
          </a:solidFill>
          <a:ln/>
        </p:spPr>
      </p:sp>
      <p:sp>
        <p:nvSpPr>
          <p:cNvPr id="21" name="Text 14"/>
          <p:cNvSpPr/>
          <p:nvPr/>
        </p:nvSpPr>
        <p:spPr>
          <a:xfrm>
            <a:off x="640080" y="4389120"/>
            <a:ext cx="78638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i="1" dirty="0">
                <a:solidFill>
                  <a:srgbClr val="F4A26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Your first user is waiting. Start today.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Marketing Plan - Driving License B1/B2 Prep App</dc:title>
  <dc:subject>PptxGenJS Presentation</dc:subject>
  <dc:creator>Kien</dc:creator>
  <cp:lastModifiedBy>Kien</cp:lastModifiedBy>
  <cp:revision>1</cp:revision>
  <dcterms:created xsi:type="dcterms:W3CDTF">2026-03-12T03:17:17Z</dcterms:created>
  <dcterms:modified xsi:type="dcterms:W3CDTF">2026-03-12T03:17:17Z</dcterms:modified>
</cp:coreProperties>
</file>